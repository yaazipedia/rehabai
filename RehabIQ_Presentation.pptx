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65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B0549F-1629-40A0-A970-66D0ECE1D8C0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E6AF37-C4CF-4560-8FE8-8FD64A141B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9445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E6AF37-C4CF-4560-8FE8-8FD64A141B7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7689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B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601200" y="457200"/>
            <a:ext cx="320040" cy="320040"/>
          </a:xfrm>
          <a:prstGeom prst="ellipse">
            <a:avLst/>
          </a:prstGeom>
          <a:solidFill>
            <a:srgbClr val="1E4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149840" y="457200"/>
            <a:ext cx="320040" cy="320040"/>
          </a:xfrm>
          <a:prstGeom prst="ellipse">
            <a:avLst/>
          </a:prstGeom>
          <a:solidFill>
            <a:srgbClr val="1E4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698480" y="457200"/>
            <a:ext cx="320040" cy="320040"/>
          </a:xfrm>
          <a:prstGeom prst="ellipse">
            <a:avLst/>
          </a:prstGeom>
          <a:solidFill>
            <a:srgbClr val="1E4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601200" y="1005840"/>
            <a:ext cx="320040" cy="320040"/>
          </a:xfrm>
          <a:prstGeom prst="ellipse">
            <a:avLst/>
          </a:prstGeom>
          <a:solidFill>
            <a:srgbClr val="1E4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149840" y="1005840"/>
            <a:ext cx="320040" cy="320040"/>
          </a:xfrm>
          <a:prstGeom prst="ellipse">
            <a:avLst/>
          </a:prstGeom>
          <a:solidFill>
            <a:srgbClr val="1E4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698480" y="1005840"/>
            <a:ext cx="320040" cy="320040"/>
          </a:xfrm>
          <a:prstGeom prst="ellipse">
            <a:avLst/>
          </a:prstGeom>
          <a:solidFill>
            <a:srgbClr val="1E4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601200" y="1554480"/>
            <a:ext cx="320040" cy="320040"/>
          </a:xfrm>
          <a:prstGeom prst="ellipse">
            <a:avLst/>
          </a:prstGeom>
          <a:solidFill>
            <a:srgbClr val="1E4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149840" y="1554480"/>
            <a:ext cx="320040" cy="320040"/>
          </a:xfrm>
          <a:prstGeom prst="ellipse">
            <a:avLst/>
          </a:prstGeom>
          <a:solidFill>
            <a:srgbClr val="1E4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0698480" y="1554480"/>
            <a:ext cx="320040" cy="320040"/>
          </a:xfrm>
          <a:prstGeom prst="ellipse">
            <a:avLst/>
          </a:prstGeom>
          <a:solidFill>
            <a:srgbClr val="1E4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31520" y="1645920"/>
            <a:ext cx="731520" cy="731520"/>
          </a:xfrm>
          <a:prstGeom prst="ellipse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169164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24000" y="156337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Calibri"/>
              </a:defRPr>
            </a:pPr>
            <a:r>
              <a:rPr dirty="0" err="1"/>
              <a:t>RehabIQ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708660" y="2906673"/>
            <a:ext cx="68122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34D399"/>
                </a:solidFill>
                <a:latin typeface="Georgia"/>
              </a:defRPr>
            </a:pPr>
            <a:r>
              <a:rPr lang="en-US" dirty="0"/>
              <a:t>The Clinical Copilot for Mental Health Recovery</a:t>
            </a:r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708660" y="3358515"/>
            <a:ext cx="56007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DE4"/>
                </a:solidFill>
                <a:latin typeface="Calibri"/>
              </a:defRPr>
            </a:pPr>
            <a:r>
              <a:rPr dirty="0"/>
              <a:t>AI-powered clinical intelligence that gives rehab counselors</a:t>
            </a:r>
            <a:r>
              <a:rPr lang="en-US" dirty="0"/>
              <a:t> </a:t>
            </a:r>
            <a:r>
              <a:rPr dirty="0"/>
              <a:t>back their time, their memory, and their ability to see the bigger picture.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974850"/>
            <a:ext cx="3474720" cy="914400"/>
          </a:xfrm>
          <a:prstGeom prst="roundRect">
            <a:avLst/>
          </a:prstGeom>
          <a:solidFill>
            <a:srgbClr val="1E4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7" name="Rectangle 16"/>
          <p:cNvSpPr/>
          <p:nvPr/>
        </p:nvSpPr>
        <p:spPr>
          <a:xfrm>
            <a:off x="8046720" y="1974850"/>
            <a:ext cx="54864" cy="914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046720" y="3163570"/>
            <a:ext cx="3474720" cy="914400"/>
          </a:xfrm>
          <a:prstGeom prst="roundRect">
            <a:avLst/>
          </a:prstGeom>
          <a:solidFill>
            <a:srgbClr val="1E4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046720" y="3163570"/>
            <a:ext cx="54864" cy="9144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046720" y="4352290"/>
            <a:ext cx="3474720" cy="914400"/>
          </a:xfrm>
          <a:prstGeom prst="roundRect">
            <a:avLst/>
          </a:prstGeom>
          <a:solidFill>
            <a:srgbClr val="1E4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046720" y="4352290"/>
            <a:ext cx="54864" cy="914400"/>
          </a:xfrm>
          <a:prstGeom prst="rect">
            <a:avLst/>
          </a:prstGeom>
          <a:solidFill>
            <a:srgbClr val="159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66760" y="206629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DC2626"/>
                </a:solidFill>
                <a:latin typeface="Calibri"/>
              </a:defRPr>
            </a:pPr>
            <a:r>
              <a:t>21M+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211201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DE4"/>
                </a:solidFill>
                <a:latin typeface="Calibri"/>
              </a:defRPr>
            </a:pPr>
            <a:r>
              <a:t>Americans need SUD treatment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325501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D97706"/>
                </a:solidFill>
                <a:latin typeface="Calibri"/>
              </a:defRPr>
            </a:pPr>
            <a:r>
              <a:t>40%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0" y="3300729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DE4"/>
                </a:solidFill>
                <a:latin typeface="Calibri"/>
              </a:defRPr>
            </a:pPr>
            <a:r>
              <a:t>of counselor time lost to paperwork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4443729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59E97"/>
                </a:solidFill>
                <a:latin typeface="Calibri"/>
              </a:defRPr>
            </a:pPr>
            <a:r>
              <a:rPr dirty="0"/>
              <a:t>90%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20" y="448945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DE4"/>
                </a:solidFill>
                <a:latin typeface="Calibri"/>
              </a:defRPr>
            </a:pPr>
            <a:r>
              <a:t>don't receive specialized care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943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A38E"/>
                </a:solidFill>
                <a:latin typeface="Calibri"/>
              </a:defRPr>
            </a:pPr>
            <a:r>
              <a:rPr dirty="0"/>
              <a:t>Track 2: Neuroscience &amp; Mental Health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6309360"/>
            <a:ext cx="34594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A38E"/>
                </a:solidFill>
                <a:latin typeface="Calibri"/>
              </a:defRPr>
            </a:pPr>
            <a:r>
              <a:rPr dirty="0"/>
              <a:t>Claude Builder's Club Hackathon · Indiana University · 2026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3D2B366-F480-CC10-65C7-1471BA1A397F}"/>
              </a:ext>
            </a:extLst>
          </p:cNvPr>
          <p:cNvSpPr txBox="1"/>
          <p:nvPr/>
        </p:nvSpPr>
        <p:spPr>
          <a:xfrm>
            <a:off x="7955280" y="6309360"/>
            <a:ext cx="3657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A38E"/>
                </a:solidFill>
                <a:latin typeface="Calibri"/>
              </a:defRPr>
            </a:pPr>
            <a:r>
              <a:rPr lang="en-US" dirty="0"/>
              <a:t>Team: Naishal, </a:t>
            </a:r>
            <a:r>
              <a:rPr lang="en-US" dirty="0" err="1"/>
              <a:t>Yashwi</a:t>
            </a:r>
            <a:r>
              <a:rPr lang="en-US" dirty="0"/>
              <a:t>, Vedant, </a:t>
            </a:r>
            <a:r>
              <a:rPr lang="en-US" dirty="0" err="1"/>
              <a:t>Dhruvil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B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162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59E97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92532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rPr dirty="0"/>
              <a:t>Counselors are drowning</a:t>
            </a:r>
            <a:r>
              <a:rPr lang="en-US" dirty="0"/>
              <a:t>. T</a:t>
            </a:r>
            <a:r>
              <a:rPr dirty="0"/>
              <a:t>heir clients pay the price.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305" y="1645920"/>
            <a:ext cx="12191695" cy="5212080"/>
          </a:xfrm>
          <a:prstGeom prst="rect">
            <a:avLst/>
          </a:prstGeom>
          <a:solidFill>
            <a:srgbClr val="F1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 rot="16200000">
            <a:off x="140660" y="3769146"/>
            <a:ext cx="2796099" cy="49876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880085" y="2489521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D3B36"/>
                </a:solidFill>
                <a:latin typeface="Calibri"/>
              </a:defRPr>
            </a:pPr>
            <a:r>
              <a:rPr dirty="0"/>
              <a:t>Who are we building this for?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80085" y="3261360"/>
            <a:ext cx="28346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1200" b="0">
                <a:solidFill>
                  <a:srgbClr val="4B5563"/>
                </a:solidFill>
                <a:latin typeface="Calibri"/>
              </a:defRPr>
            </a:pPr>
            <a:r>
              <a:rPr dirty="0"/>
              <a:t>Rehabilitation counselors managing 30-40+ clients across IOP, outpatient, and residential programs. They spend 40% of their time on documentation instead of with clients. By the time they notice a pattern, it's often too late.</a:t>
            </a:r>
          </a:p>
        </p:txBody>
      </p:sp>
      <p:sp>
        <p:nvSpPr>
          <p:cNvPr id="17" name="Rectangle 16"/>
          <p:cNvSpPr/>
          <p:nvPr/>
        </p:nvSpPr>
        <p:spPr>
          <a:xfrm rot="16200000">
            <a:off x="4536916" y="3765196"/>
            <a:ext cx="2796099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09871" y="2489521"/>
            <a:ext cx="283464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D3B36"/>
                </a:solidFill>
                <a:latin typeface="Calibri"/>
              </a:defRPr>
            </a:pPr>
            <a:r>
              <a:rPr lang="en-US" dirty="0"/>
              <a:t>AI assists rather than replace</a:t>
            </a:r>
            <a:endParaRPr dirty="0"/>
          </a:p>
        </p:txBody>
      </p:sp>
      <p:sp>
        <p:nvSpPr>
          <p:cNvPr id="20" name="TextBox 19"/>
          <p:cNvSpPr txBox="1"/>
          <p:nvPr/>
        </p:nvSpPr>
        <p:spPr>
          <a:xfrm>
            <a:off x="6309871" y="3178998"/>
            <a:ext cx="283464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1200" b="0">
                <a:solidFill>
                  <a:srgbClr val="4B5563"/>
                </a:solidFill>
                <a:latin typeface="Calibri"/>
              </a:defRPr>
            </a:pPr>
            <a:r>
              <a:rPr dirty="0" err="1"/>
              <a:t>RehabIQ</a:t>
            </a:r>
            <a:r>
              <a:rPr dirty="0"/>
              <a:t> surfaces patterns and suggests</a:t>
            </a:r>
            <a:r>
              <a:rPr lang="en-US" dirty="0"/>
              <a:t>,</a:t>
            </a:r>
            <a:r>
              <a:rPr dirty="0"/>
              <a:t> it never decides. Every DAP note is a draft the counselor edits. Every clinical recommendation says 'Consider...' not 'Do this.' The counselor walks into every session more informed, but every decision stays human.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B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59E97"/>
                </a:solidFill>
                <a:latin typeface="Calibri"/>
              </a:defRPr>
            </a:pPr>
            <a:r>
              <a:t>PRODUCT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RehabIQ in 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38404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  <a:latin typeface="Calibri"/>
              </a:defRPr>
            </a:pPr>
            <a:r>
              <a:rPr dirty="0"/>
              <a:t>[ Live demo plays here 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16992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17297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DAP note generation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2031491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A38E"/>
                </a:solidFill>
                <a:latin typeface="Calibri"/>
              </a:defRPr>
            </a:pPr>
            <a:r>
              <a:t>Raw notes → structured clinical docs in seconds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567939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25984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Pre-session briefings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29001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A38E"/>
                </a:solidFill>
                <a:latin typeface="Calibri"/>
              </a:defRPr>
            </a:pPr>
            <a:r>
              <a:t>AI-prepared context before every session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34366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34671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Outcome tracking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37688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A38E"/>
                </a:solidFill>
                <a:latin typeface="Calibri"/>
              </a:defRPr>
            </a:pPr>
            <a:r>
              <a:t>Visual dashboard with recovery domain scores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43053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43357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Pattern detection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463753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A38E"/>
                </a:solidFill>
                <a:latin typeface="Calibri"/>
              </a:defRPr>
            </a:pPr>
            <a:r>
              <a:t>Cross-session insights humans would miss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5173979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520445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Client management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0" y="550621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A38E"/>
                </a:solidFill>
                <a:latin typeface="Calibri"/>
              </a:defRPr>
            </a:pPr>
            <a:r>
              <a:t>Full intake, treatment plans, persistent storage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0749CA28-0AA3-B5AA-A2C0-08556390B2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48840"/>
            <a:ext cx="7229656" cy="352171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B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74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59E97"/>
                </a:solidFill>
                <a:latin typeface="Calibri"/>
              </a:defRPr>
            </a:pPr>
            <a:r>
              <a:t>ETHICAL ALIGNMENT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73152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What could go wrong?</a:t>
            </a:r>
          </a:p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91695" cy="5486400"/>
          </a:xfrm>
          <a:prstGeom prst="rect">
            <a:avLst/>
          </a:prstGeom>
          <a:solidFill>
            <a:srgbClr val="F1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2574" y="1737360"/>
            <a:ext cx="49876" cy="2194561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3B36"/>
                </a:solidFill>
                <a:latin typeface="Calibri"/>
              </a:defRPr>
            </a:pPr>
            <a:r>
              <a:t>Data privacy &amp; compliance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0" y="1874519"/>
            <a:ext cx="777240" cy="292608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46320" y="1874519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8600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Calibri"/>
              </a:defRPr>
            </a:pPr>
            <a:r>
              <a:rPr dirty="0"/>
              <a:t>Risk: Protected Health Information (PHI) exposure. SUD records carry extra federal protections.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34639"/>
            <a:ext cx="4663440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1100" b="0">
                <a:solidFill>
                  <a:srgbClr val="374151"/>
                </a:solidFill>
                <a:latin typeface="Calibri"/>
              </a:defRPr>
            </a:pPr>
            <a:r>
              <a:rPr dirty="0"/>
              <a:t>Mitigation: End-to-end encryption for all PII. HIPAA-compliant infrastructure with BAA agreements. 42 CFR Part 2 compliance</a:t>
            </a:r>
            <a:r>
              <a:rPr lang="en-US" dirty="0"/>
              <a:t>, </a:t>
            </a:r>
            <a:r>
              <a:rPr dirty="0"/>
              <a:t>federal regulations that protect substance use disorder treatment records with stricter consent requirements than standard HIPAA, preventing disclosure without explicit patient authorization.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73736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09360" y="1737360"/>
            <a:ext cx="54864" cy="21945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3680" y="1874519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3B36"/>
                </a:solidFill>
                <a:latin typeface="Calibri"/>
              </a:defRPr>
            </a:pPr>
            <a:r>
              <a:t>AI accuracy &amp; clinical safety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515600" y="1874519"/>
            <a:ext cx="777240" cy="292608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515600" y="1874519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28600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Calibri"/>
              </a:defRPr>
            </a:pPr>
            <a:r>
              <a:t>Risk: AI-generated notes could contain inaccuracies. False low-risk scores could lead to missed interventions.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834639"/>
            <a:ext cx="466344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1100" b="0">
                <a:solidFill>
                  <a:srgbClr val="374151"/>
                </a:solidFill>
                <a:latin typeface="Calibri"/>
              </a:defRPr>
            </a:pPr>
            <a:r>
              <a:rPr dirty="0"/>
              <a:t>Mitigation: Every AI output is an editable draft</a:t>
            </a:r>
            <a:r>
              <a:rPr lang="en-US" dirty="0"/>
              <a:t>, </a:t>
            </a:r>
            <a:r>
              <a:rPr dirty="0"/>
              <a:t>counselors review, modify, and approve before finalizing. All sections are fully editable so clinicians remain in control. Configurable alert thresholds. AI is the facilitator; the counselor is the decision-maker.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20624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0080" y="4206240"/>
            <a:ext cx="54864" cy="21945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434340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3B36"/>
                </a:solidFill>
                <a:latin typeface="Calibri"/>
              </a:defRPr>
            </a:pPr>
            <a:r>
              <a:t>Clinician adoption &amp; trust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46320" y="4343400"/>
            <a:ext cx="777240" cy="292608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46320" y="4343400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754879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Calibri"/>
              </a:defRPr>
            </a:pPr>
            <a:r>
              <a:t>Risk: Staff resistance to AI-generated documentation. Concern about being replaced.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303520"/>
            <a:ext cx="466344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1100" b="0">
                <a:solidFill>
                  <a:srgbClr val="374151"/>
                </a:solidFill>
                <a:latin typeface="Calibri"/>
              </a:defRPr>
            </a:pPr>
            <a:r>
              <a:rPr dirty="0"/>
              <a:t>Mitigation: Opt-in AI suggestions</a:t>
            </a:r>
            <a:r>
              <a:rPr lang="en-US" dirty="0"/>
              <a:t>, </a:t>
            </a:r>
            <a:r>
              <a:rPr dirty="0"/>
              <a:t>counselors choose when to use AI. Training modules and feedback loops. Clear messaging: </a:t>
            </a:r>
            <a:r>
              <a:rPr dirty="0" err="1"/>
              <a:t>RehabIQ</a:t>
            </a:r>
            <a:r>
              <a:rPr dirty="0"/>
              <a:t> amplifies clinical judgment, it doesn't replace it. Counselor-in-the-loop at every step.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420624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309360" y="4206240"/>
            <a:ext cx="54864" cy="21945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83680" y="434340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3B36"/>
                </a:solidFill>
                <a:latin typeface="Calibri"/>
              </a:defRPr>
            </a:pPr>
            <a:r>
              <a:t>Interoperability &amp; scalability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515600" y="4343400"/>
            <a:ext cx="777240" cy="292608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515600" y="4343400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LOW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4754879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Calibri"/>
              </a:defRPr>
            </a:pPr>
            <a:r>
              <a:t>Risk: Integration with existing EHR systems. Performance under large caseloads.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5303520"/>
            <a:ext cx="466344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1100" b="0">
                <a:solidFill>
                  <a:srgbClr val="374151"/>
                </a:solidFill>
                <a:latin typeface="Calibri"/>
              </a:defRPr>
            </a:pPr>
            <a:r>
              <a:rPr dirty="0"/>
              <a:t>Mitigation: FHIR R4 API architecture for EHR integration (Epic, Netsmart, Kipu). SQLite for hackathon; production-ready PostgreSQL path. Auto-scaling infrastructure roadmap.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B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59E97"/>
                </a:solidFill>
                <a:latin typeface="Calibri"/>
              </a:defRPr>
            </a:pPr>
            <a:r>
              <a:t>THE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5486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Calibri"/>
              </a:defRPr>
            </a:pPr>
            <a:r>
              <a:t>From documentation</a:t>
            </a:r>
            <a:br/>
            <a:r>
              <a:t>to intelligence.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560320"/>
            <a:ext cx="454152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1500" b="0">
                <a:solidFill>
                  <a:srgbClr val="E8EDE4"/>
                </a:solidFill>
                <a:latin typeface="Calibri"/>
              </a:defRPr>
            </a:pPr>
            <a:r>
              <a:rPr dirty="0" err="1"/>
              <a:t>RehabIQ</a:t>
            </a:r>
            <a:r>
              <a:rPr dirty="0"/>
              <a:t> doesn't just record what happened</a:t>
            </a:r>
            <a:r>
              <a:rPr lang="en-US" dirty="0"/>
              <a:t>, </a:t>
            </a:r>
            <a:r>
              <a:rPr dirty="0"/>
              <a:t>it connects the dots across time, surfaces what matters,</a:t>
            </a:r>
            <a:r>
              <a:rPr lang="en-US" dirty="0"/>
              <a:t> </a:t>
            </a:r>
            <a:r>
              <a:rPr dirty="0"/>
              <a:t>and helps counselors make better clinical decisions faster.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⏱️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840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DE4"/>
                </a:solidFill>
                <a:latin typeface="Calibri"/>
              </a:defRPr>
            </a:pPr>
            <a:r>
              <a:t>Saves 2-3 hours of documentation per counselor per 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3434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rPr dirty="0"/>
              <a:t>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4343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DE4"/>
                </a:solidFill>
                <a:latin typeface="Calibri"/>
              </a:defRPr>
            </a:pPr>
            <a:r>
              <a:t>Catches cross-session patterns humans miss across 30+ caseloads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846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rPr dirty="0"/>
              <a:t>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846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DE4"/>
                </a:solidFill>
                <a:latin typeface="Calibri"/>
              </a:defRPr>
            </a:pPr>
            <a:r>
              <a:t>Tracks whether interventions are actually working — not just used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349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rPr dirty="0"/>
              <a:t>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5349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DE4"/>
                </a:solidFill>
                <a:latin typeface="Calibri"/>
              </a:defRPr>
            </a:pPr>
            <a:r>
              <a:t>Every decision stays with the counselor. AI surfaces, humans decide.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0" y="457200"/>
            <a:ext cx="4754880" cy="5760720"/>
          </a:xfrm>
          <a:prstGeom prst="roundRect">
            <a:avLst/>
          </a:prstGeom>
          <a:solidFill>
            <a:srgbClr val="1E4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223760" y="731520"/>
            <a:ext cx="3657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59E97"/>
                </a:solidFill>
                <a:latin typeface="Calibri"/>
              </a:defRPr>
            </a:pPr>
            <a:r>
              <a:rPr dirty="0"/>
              <a:t>WHAT'S NEXT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23760" y="1371600"/>
            <a:ext cx="822960" cy="292608"/>
          </a:xfrm>
          <a:prstGeom prst="round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223760" y="1371600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32588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DE4"/>
                </a:solidFill>
                <a:latin typeface="Calibri"/>
              </a:defRPr>
            </a:pPr>
            <a:r>
              <a:t>HIPAA-compliant cloud deployment</a:t>
            </a:r>
            <a:br/>
            <a:r>
              <a:t>with end-to-end encryption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23760" y="2468880"/>
            <a:ext cx="822960" cy="292608"/>
          </a:xfrm>
          <a:prstGeom prst="round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223760" y="2468880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42316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DE4"/>
                </a:solidFill>
                <a:latin typeface="Calibri"/>
              </a:defRPr>
            </a:pPr>
            <a:r>
              <a:rPr dirty="0"/>
              <a:t>EHR integration via FHIR R4 APIs</a:t>
            </a:r>
            <a:br>
              <a:rPr dirty="0"/>
            </a:br>
            <a:r>
              <a:rPr dirty="0"/>
              <a:t>(Epic, Netsmart, Kipu, </a:t>
            </a:r>
            <a:r>
              <a:rPr dirty="0" err="1"/>
              <a:t>BestNotes</a:t>
            </a:r>
            <a:r>
              <a:rPr dirty="0"/>
              <a:t>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23760" y="3566160"/>
            <a:ext cx="822960" cy="292608"/>
          </a:xfrm>
          <a:prstGeom prst="round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223760" y="3566160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rPr dirty="0"/>
              <a:t>Phase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3520440"/>
            <a:ext cx="30175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E8EDE4"/>
                </a:solidFill>
                <a:latin typeface="Calibri"/>
              </a:defRPr>
            </a:pPr>
            <a:r>
              <a:rPr lang="en-US" dirty="0"/>
              <a:t>Anonymized outcome benchmarking</a:t>
            </a:r>
            <a:br>
              <a:rPr lang="en-US" dirty="0"/>
            </a:br>
            <a:r>
              <a:rPr lang="en-US" dirty="0"/>
              <a:t>across treatment centers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41210" y="473425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4D399"/>
                </a:solidFill>
                <a:latin typeface="Calibri"/>
              </a:defRPr>
            </a:pPr>
            <a:r>
              <a:t>16,000+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91245" y="4846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A38E"/>
                </a:solidFill>
                <a:latin typeface="Calibri"/>
              </a:defRPr>
            </a:pPr>
            <a:r>
              <a:rPr dirty="0"/>
              <a:t>SUD treatment facilities in the US alone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618</Words>
  <Application>Microsoft Office PowerPoint</Application>
  <PresentationFormat>Widescreen</PresentationFormat>
  <Paragraphs>76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Shah, Naishal N</cp:lastModifiedBy>
  <cp:revision>20</cp:revision>
  <dcterms:created xsi:type="dcterms:W3CDTF">2013-01-27T09:14:16Z</dcterms:created>
  <dcterms:modified xsi:type="dcterms:W3CDTF">2026-03-29T16:22:10Z</dcterms:modified>
  <cp:category/>
</cp:coreProperties>
</file>